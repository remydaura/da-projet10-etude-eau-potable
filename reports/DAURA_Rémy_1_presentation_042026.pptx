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267D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192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2749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3035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DWFA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50876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Drinking Water For All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85800" y="1353312"/>
            <a:ext cx="7772400" cy="2743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50876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d'accès à l'eau potable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85800" y="24231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mondiale · continentale · nationale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orienter les interventions de DWFA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85800" y="3520440"/>
            <a:ext cx="1874520" cy="804672"/>
          </a:xfrm>
          <a:prstGeom prst="rect">
            <a:avLst/>
          </a:prstGeom>
          <a:solidFill>
            <a:srgbClr val="132060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35661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39319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697480" y="3520440"/>
            <a:ext cx="1874520" cy="804672"/>
          </a:xfrm>
          <a:prstGeom prst="rect">
            <a:avLst/>
          </a:prstGeom>
          <a:solidFill>
            <a:srgbClr val="132060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88920" y="35661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OMS/UNICEF JMP · Banque mondiale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88920" y="39319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709160" y="3520440"/>
            <a:ext cx="1874520" cy="804672"/>
          </a:xfrm>
          <a:prstGeom prst="rect">
            <a:avLst/>
          </a:prstGeom>
          <a:solidFill>
            <a:srgbClr val="132060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00600" y="35661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 — 2017/2018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00600" y="39319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720840" y="3520440"/>
            <a:ext cx="1874520" cy="804672"/>
          </a:xfrm>
          <a:prstGeom prst="rect">
            <a:avLst/>
          </a:prstGeom>
          <a:solidFill>
            <a:srgbClr val="132060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12280" y="356616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 pays · 6 régions OMS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12280" y="393192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85800" y="45720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Rémy D’AURA · Formation Data Analyst · OpenClassrooms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1337"/>
          </a:solidFill>
          <a:ln w="12700">
            <a:solidFill>
              <a:srgbClr val="0B13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7315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DWFA · Projet Data Analyst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EF4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92624"/>
            <a:ext cx="7315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OMS/UNICEF JMP · Banque mondiale (WGI) · Données 2000-2018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0" y="4992624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411480"/>
            <a:ext cx="54864" cy="2926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40233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MISSION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mission confiée par Thibaut Renard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65760" y="1325880"/>
            <a:ext cx="4114800" cy="3520440"/>
          </a:xfrm>
          <a:prstGeom prst="rect">
            <a:avLst/>
          </a:prstGeom>
          <a:solidFill>
            <a:srgbClr val="EEF4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325880"/>
            <a:ext cx="4114800" cy="384048"/>
          </a:xfrm>
          <a:prstGeom prst="rect">
            <a:avLst/>
          </a:prstGeom>
          <a:solidFill>
            <a:srgbClr val="0B1337"/>
          </a:solidFill>
          <a:ln w="12700">
            <a:solidFill>
              <a:srgbClr val="0B13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DWFA — Drinking Water For All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181051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: donner accès à l'eau potable au plus grand nombre via 3 domaines d'expertise :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3840480" cy="658368"/>
          </a:xfrm>
          <a:prstGeom prst="rect">
            <a:avLst/>
          </a:prstGeom>
          <a:solidFill>
            <a:srgbClr val="0B1337"/>
          </a:solidFill>
          <a:ln w="12700">
            <a:solidFill>
              <a:srgbClr val="0B13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38658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24128" y="236829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services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24128" y="2642616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des infrastructures là où aucun accès n'existe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3081528"/>
            <a:ext cx="3840480" cy="65836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1363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24128" y="31181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24128" y="339242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Améliorer des services basiques vers le standard safely managed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3831336"/>
            <a:ext cx="3840480" cy="65836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8862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24128" y="386791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4128" y="414223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Accompagner les gouvernements vers des politiques d'accès efficaces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4599432"/>
            <a:ext cx="3840480" cy="228600"/>
          </a:xfrm>
          <a:prstGeom prst="rect">
            <a:avLst/>
          </a:prstGeom>
          <a:solidFill>
            <a:srgbClr val="E8F4FD"/>
          </a:solidFill>
          <a:ln w="6350">
            <a:solidFill>
              <a:srgbClr val="85B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608576"/>
            <a:ext cx="3657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B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L'association a soumis une demande de financement : si accordé, investissement dans 1 domaine, 1 pays indéterminé.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63440" y="1325880"/>
            <a:ext cx="4114800" cy="3547872"/>
          </a:xfrm>
          <a:prstGeom prst="rect">
            <a:avLst/>
          </a:prstGeom>
          <a:solidFill>
            <a:srgbClr val="FAFAFA"/>
          </a:solidFill>
          <a:ln w="635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1325880"/>
            <a:ext cx="4114800" cy="384048"/>
          </a:xfrm>
          <a:prstGeom prst="rect">
            <a:avLst/>
          </a:prstGeom>
          <a:solidFill>
            <a:srgbClr val="E8EFF8"/>
          </a:solidFill>
          <a:ln w="6350">
            <a:solidFill>
              <a:srgbClr val="C8D5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135331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Mail de mission — Thibaut Renard, Chef de mission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73168" y="1783080"/>
            <a:ext cx="3913632" cy="2944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 :</a:t>
            </a: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Briefing étude eau potableBonjour,
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avons besoin d'un tableau de bord pour :• identifier les pays avec des difficultés d'accès à l'eau• identifier ceux sur lesquels concentrer nos effortsIl faudra représenter des indicateurs relatifs à nos 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domaines d'expertise</a:t>
            </a: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.Nous aurons besoin de 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vues</a:t>
            </a: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(mondiale, continentale, nationale).J'aimerais d'abord un 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</a:t>
            </a: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synthétisant vos choix d'indicateurs.N'oubliez pas d'optimiser pour l'</a:t>
            </a:r>
            <a:endParaRPr lang="en-US" sz="9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9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accessibilité</a:t>
            </a: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73168" y="4645152"/>
            <a:ext cx="391363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Thibaut Renard — Chef de mission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1337"/>
          </a:solidFill>
          <a:ln w="12700">
            <a:solidFill>
              <a:srgbClr val="0B13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7315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DWFA · Projet Data Analyst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EF4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92624"/>
            <a:ext cx="7315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OMS/UNICEF JMP · Banque mondiale (WGI) · Données 2000-2018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0" y="4992624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411480"/>
            <a:ext cx="54864" cy="2926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40233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DE DONNÉES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jeux de données, 1 modèle unifié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65760" y="1298448"/>
            <a:ext cx="8412480" cy="347472"/>
          </a:xfrm>
          <a:prstGeom prst="rect">
            <a:avLst/>
          </a:prstGeom>
          <a:solidFill>
            <a:srgbClr val="0B1337"/>
          </a:solidFill>
          <a:ln w="12700">
            <a:solidFill>
              <a:srgbClr val="0B13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316736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Power BI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359152" y="1316736"/>
            <a:ext cx="1280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730752" y="1316736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clés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91072" y="1316736"/>
            <a:ext cx="822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205472" y="1316736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1664208"/>
            <a:ext cx="8412480" cy="566928"/>
          </a:xfrm>
          <a:prstGeom prst="rect">
            <a:avLst/>
          </a:prstGeom>
          <a:solidFill>
            <a:srgbClr val="F8FAFE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1664208"/>
            <a:ext cx="73152" cy="56692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171907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B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BasicAndSafely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B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Managed...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359152" y="1719072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 / UNICEF JMP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730752" y="171907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accès basique · % safely managed par pays et granularité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91072" y="1719072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2000-2017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205472" y="1719072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principal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2258568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258568"/>
            <a:ext cx="73152" cy="56692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231343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B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359152" y="2313432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mondiale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730752" y="231343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Pop. totale · rurale · urbaine · homme · femme (5 granularités)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91072" y="2313432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2000-2018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205472" y="2313432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Pondération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2852928"/>
            <a:ext cx="8412480" cy="566928"/>
          </a:xfrm>
          <a:prstGeom prst="rect">
            <a:avLst/>
          </a:prstGeom>
          <a:solidFill>
            <a:srgbClr val="F8FAFE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2852928"/>
            <a:ext cx="73152" cy="56692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290779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B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MortalityRate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B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Attributed...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359152" y="2907792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730752" y="290779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Mortalité due à l'eau insalubre (/100k hab.) · WASH deaths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91072" y="2907792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205472" y="2907792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sanitaire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3447288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3447288"/>
            <a:ext cx="73152" cy="56692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" y="350215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B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PoliticalStability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359152" y="3502152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mondiale (WGI)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730752" y="350215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de stabilité politique (−3 à +2) par pays et année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91072" y="3502152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2000-2018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205472" y="3502152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Domaine 3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5760" y="4041648"/>
            <a:ext cx="8412480" cy="566928"/>
          </a:xfrm>
          <a:prstGeom prst="rect">
            <a:avLst/>
          </a:prstGeom>
          <a:solidFill>
            <a:srgbClr val="F8FAFE"/>
          </a:solidFill>
          <a:ln w="6350">
            <a:solidFill>
              <a:srgbClr val="E0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4041648"/>
            <a:ext cx="73152" cy="56692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912" y="4096512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0B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RegionCountry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359152" y="4096512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Référentiel OMS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3730752" y="409651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 pays → 6 régions OMS (Afrique, Amériques, Europe...)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291072" y="4096512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205472" y="4096512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dimension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65760" y="4645152"/>
            <a:ext cx="1965960" cy="274320"/>
          </a:xfrm>
          <a:prstGeom prst="rect">
            <a:avLst/>
          </a:prstGeom>
          <a:solidFill>
            <a:srgbClr val="EEF4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0624" y="465429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  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1261872" y="46817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468880" y="4645152"/>
            <a:ext cx="1965960" cy="274320"/>
          </a:xfrm>
          <a:prstGeom prst="rect">
            <a:avLst/>
          </a:prstGeom>
          <a:solidFill>
            <a:srgbClr val="EEF4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23744" y="465429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3364992" y="46817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régions OMS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572000" y="4645152"/>
            <a:ext cx="1965960" cy="274320"/>
          </a:xfrm>
          <a:prstGeom prst="rect">
            <a:avLst/>
          </a:prstGeom>
          <a:solidFill>
            <a:srgbClr val="EEF4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26864" y="465429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5468112" y="46817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jointes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675120" y="4645152"/>
            <a:ext cx="1965960" cy="274320"/>
          </a:xfrm>
          <a:prstGeom prst="rect">
            <a:avLst/>
          </a:prstGeom>
          <a:solidFill>
            <a:srgbClr val="EEF4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29984" y="465429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2000-2018  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7571232" y="46817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max.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1337"/>
          </a:solidFill>
          <a:ln w="12700">
            <a:solidFill>
              <a:srgbClr val="0B13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7315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DWFA · Projet Data Analyst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EF4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92624"/>
            <a:ext cx="7315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OMS/UNICEF JMP · Banque mondiale (WGI) · Données 2000-2018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0" y="4992624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411480"/>
            <a:ext cx="54864" cy="2926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40233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 DES DONNÉES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donnée brute au modèle Power BI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65760" y="1389888"/>
            <a:ext cx="2651760" cy="3310128"/>
          </a:xfrm>
          <a:prstGeom prst="rect">
            <a:avLst/>
          </a:prstGeom>
          <a:solidFill>
            <a:srgbClr val="EEF4FB"/>
          </a:solidFill>
          <a:ln w="635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389888"/>
            <a:ext cx="2651760" cy="621792"/>
          </a:xfrm>
          <a:prstGeom prst="rect">
            <a:avLst/>
          </a:prstGeom>
          <a:solidFill>
            <a:srgbClr val="0B1337"/>
          </a:solidFill>
          <a:ln w="12700">
            <a:solidFill>
              <a:srgbClr val="0B13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435608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149047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" y="208483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B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RegionCountry[Country] — clé centrale (table dim.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" y="2596896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B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Cardinalité 1:N vers les 4 tables de faits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" y="310896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B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unidirectionnel (RegionCountry → faits)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" y="362102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B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Bidirectionnel activé pour PoliticalStability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" y="413308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0B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 techniques masquées vue Rapport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017520" y="272491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0" y="1389888"/>
            <a:ext cx="2651760" cy="3310128"/>
          </a:xfrm>
          <a:prstGeom prst="rect">
            <a:avLst/>
          </a:prstGeom>
          <a:solidFill>
            <a:srgbClr val="EEF4FB"/>
          </a:solidFill>
          <a:ln w="635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1389888"/>
            <a:ext cx="2651760" cy="62179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1435608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840480" y="149047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10128" y="208483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valeurs : Total · Urban · Rural · Male · Female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10128" y="2596896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filtre → population comptée ×5 par ligne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10128" y="310896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: CALCULATE(... Granularity='Total')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10128" y="362102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area : filtre Rural + Urban uniquement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10128" y="413308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triple-comptabilisation possible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52160" y="272491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035040" y="1389888"/>
            <a:ext cx="2651760" cy="3310128"/>
          </a:xfrm>
          <a:prstGeom prst="rect">
            <a:avLst/>
          </a:prstGeom>
          <a:solidFill>
            <a:srgbClr val="EEF4FB"/>
          </a:solidFill>
          <a:ln w="635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1389888"/>
            <a:ext cx="2651760" cy="62179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1435608"/>
            <a:ext cx="502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675120" y="149047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DAX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144768" y="208483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Accès basique pondéré par population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44768" y="2596896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Safely managed pondéré par population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44768" y="310896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Mortalité moyenne pondérée par population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44768" y="362102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Pop. KPI = MAX(Year) — pas de somme temporelle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44768" y="413308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DAX &gt; colonnes calculées (perf. mémoire)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4736592"/>
            <a:ext cx="8412480" cy="201168"/>
          </a:xfrm>
          <a:prstGeom prst="rect">
            <a:avLst/>
          </a:prstGeom>
          <a:solidFill>
            <a:srgbClr val="E8F4FD"/>
          </a:solidFill>
          <a:ln w="6350">
            <a:solidFill>
              <a:srgbClr val="85B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4745736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B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Modèle optimisé : relations 1:N propres · mesures pondérées par population · filtres Granularity systématiques · colonnes techniques masquées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1337"/>
          </a:solidFill>
          <a:ln w="12700">
            <a:solidFill>
              <a:srgbClr val="0B13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7315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DWFA · Projet Data Analyst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EF4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411480"/>
            <a:ext cx="54864" cy="2926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40233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— DOCUMENT DE CADRAGE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8107" y="573559"/>
            <a:ext cx="54660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des indicateurs retenus par vue</a:t>
            </a:r>
            <a:endParaRPr lang="en-US" sz="2400" dirty="0"/>
          </a:p>
        </p:txBody>
      </p:sp>
      <p:pic>
        <p:nvPicPr>
          <p:cNvPr id="78" name="Image 77">
            <a:extLst>
              <a:ext uri="{FF2B5EF4-FFF2-40B4-BE49-F238E27FC236}">
                <a16:creationId xmlns:a16="http://schemas.microsoft.com/office/drawing/2014/main" id="{552E14BA-C2E7-2869-971C-6618B8DFB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577" y="1060704"/>
            <a:ext cx="4561412" cy="3294353"/>
          </a:xfrm>
          <a:prstGeom prst="rect">
            <a:avLst/>
          </a:prstGeom>
        </p:spPr>
      </p:pic>
      <p:pic>
        <p:nvPicPr>
          <p:cNvPr id="80" name="Image 79">
            <a:extLst>
              <a:ext uri="{FF2B5EF4-FFF2-40B4-BE49-F238E27FC236}">
                <a16:creationId xmlns:a16="http://schemas.microsoft.com/office/drawing/2014/main" id="{DD62569F-9213-473C-DC60-4D6A05AC76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60703"/>
            <a:ext cx="4454394" cy="32943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EF4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992624"/>
            <a:ext cx="7315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OMS/UNICEF JMP · Banque mondiale (WGI) · Données 2000-2018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0" y="4992624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Power BI ? Optimisation du modèle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8046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du choix de l'outil et des décisions d'optimisation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188720"/>
            <a:ext cx="3794760" cy="320040"/>
          </a:xfrm>
          <a:prstGeom prst="rect">
            <a:avLst/>
          </a:prstGeom>
          <a:solidFill>
            <a:srgbClr val="0C2060"/>
          </a:solidFill>
          <a:ln w="12700">
            <a:solidFill>
              <a:srgbClr val="0C2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20700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65376" y="1207008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Interactivité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414016" y="1207008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62656" y="1207008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11296" y="1207008"/>
            <a:ext cx="44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14216" y="1207008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1527048"/>
            <a:ext cx="3794760" cy="438912"/>
          </a:xfrm>
          <a:prstGeom prst="rect">
            <a:avLst/>
          </a:prstGeom>
          <a:solidFill>
            <a:srgbClr val="185FA5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1527048"/>
            <a:ext cx="73152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16184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← retenu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828800" y="16184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377440" y="16184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26080" y="16184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74720" y="16184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977640" y="16184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✓✓✓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2002536"/>
            <a:ext cx="3794760" cy="438912"/>
          </a:xfrm>
          <a:prstGeom prst="rect">
            <a:avLst/>
          </a:prstGeom>
          <a:solidFill>
            <a:srgbClr val="132060"/>
          </a:solidFill>
          <a:ln w="6350">
            <a:solidFill>
              <a:srgbClr val="1A3A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0939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828800" y="20939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377440" y="20939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926080" y="20939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74720" y="209397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977640" y="20939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" y="2478024"/>
            <a:ext cx="3794760" cy="438912"/>
          </a:xfrm>
          <a:prstGeom prst="rect">
            <a:avLst/>
          </a:prstGeom>
          <a:solidFill>
            <a:srgbClr val="132060"/>
          </a:solidFill>
          <a:ln w="6350">
            <a:solidFill>
              <a:srgbClr val="1A3A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25694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828800" y="25694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377440" y="25694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926080" y="25694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74720" y="25694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977640" y="25694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✓✓✓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" y="2953512"/>
            <a:ext cx="3794760" cy="438912"/>
          </a:xfrm>
          <a:prstGeom prst="rect">
            <a:avLst/>
          </a:prstGeom>
          <a:solidFill>
            <a:srgbClr val="132060"/>
          </a:solidFill>
          <a:ln w="6350">
            <a:solidFill>
              <a:srgbClr val="1A3A7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" y="3044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828800" y="3044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377440" y="3044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926080" y="3044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474720" y="30449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✓✓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977640" y="3044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17720" y="1188720"/>
            <a:ext cx="4206240" cy="320040"/>
          </a:xfrm>
          <a:prstGeom prst="rect">
            <a:avLst/>
          </a:prstGeom>
          <a:solidFill>
            <a:srgbClr val="0C2060"/>
          </a:solidFill>
          <a:ln w="12700">
            <a:solidFill>
              <a:srgbClr val="0C20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12161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du modèle de données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17720" y="1527048"/>
            <a:ext cx="4206240" cy="722376"/>
          </a:xfrm>
          <a:prstGeom prst="rect">
            <a:avLst/>
          </a:prstGeom>
          <a:solidFill>
            <a:srgbClr val="0A1A50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36592" y="15819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étoile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736592" y="185623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RegionCountry = table dimension centrale. 4 tables de faits reliées en 1:N. Pas de relation many-to-many.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17720" y="2322576"/>
            <a:ext cx="4206240" cy="722376"/>
          </a:xfrm>
          <a:prstGeom prst="rect">
            <a:avLst/>
          </a:prstGeom>
          <a:solidFill>
            <a:srgbClr val="0A1A50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36592" y="23774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colonnes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736592" y="26517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calculs sont des mesures DAX, pas des colonnes calculées. Évaluation à la demande, pas en mémoire permanente.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17720" y="3118104"/>
            <a:ext cx="4206240" cy="722376"/>
          </a:xfrm>
          <a:prstGeom prst="rect">
            <a:avLst/>
          </a:prstGeom>
          <a:solidFill>
            <a:srgbClr val="0A1A50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36592" y="31729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Colonnes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masquées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736592" y="34472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 techniques, identifiants et colonnes intermédiaires masqués dans la vue Rapport. Interface utilisateur épurée.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617720" y="3913632"/>
            <a:ext cx="4206240" cy="722376"/>
          </a:xfrm>
          <a:prstGeom prst="rect">
            <a:avLst/>
          </a:prstGeom>
          <a:solidFill>
            <a:srgbClr val="0A1A50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36592" y="39684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maîtrisés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4736592" y="42428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unidirectionnels par défaut. Bidirectionnel activé uniquement sur PoliticalStability pour permettre le filtrage.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1337"/>
          </a:solidFill>
          <a:ln w="12700">
            <a:solidFill>
              <a:srgbClr val="0B13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7315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DWFA · Projet Data Analyst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EF4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92624"/>
            <a:ext cx="7315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OMS/UNICEF JMP · Banque mondiale (WGI) · Données 2000-2018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0" y="4992624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411480"/>
            <a:ext cx="54864" cy="2926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40233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ACCESSIBILITÉ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des critères d'accessibilité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65760" y="1280160"/>
            <a:ext cx="4069080" cy="1737360"/>
          </a:xfrm>
          <a:prstGeom prst="rect">
            <a:avLst/>
          </a:prstGeom>
          <a:solidFill>
            <a:srgbClr val="EEF4FB"/>
          </a:solidFill>
          <a:ln w="635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280160"/>
            <a:ext cx="4069080" cy="438912"/>
          </a:xfrm>
          <a:prstGeom prst="rect">
            <a:avLst/>
          </a:prstGeom>
          <a:solidFill>
            <a:srgbClr val="0B1337"/>
          </a:solidFill>
          <a:ln w="12700">
            <a:solidFill>
              <a:srgbClr val="0B13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3350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2688" y="13716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Textes alternatifs (Alt-text)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" y="1792224"/>
            <a:ext cx="3858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visuel Power BI a un alt-text rédigé dans Format → Général → Alt-text. Ex : "Carte choroplèthe montrant le % d'accès basique par pays en 2017, les zones les plus sombres indiquant un accès supérieur à 95 %".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" y="2697480"/>
            <a:ext cx="3858768" cy="256032"/>
          </a:xfrm>
          <a:prstGeom prst="rect">
            <a:avLst/>
          </a:prstGeom>
          <a:solidFill>
            <a:srgbClr val="E8F4FD"/>
          </a:solidFill>
          <a:ln w="6350">
            <a:solidFill>
              <a:srgbClr val="0B13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7157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21+ visuels avec alt-text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154680"/>
            <a:ext cx="4069080" cy="1737360"/>
          </a:xfrm>
          <a:prstGeom prst="rect">
            <a:avLst/>
          </a:prstGeom>
          <a:solidFill>
            <a:srgbClr val="EEF4FB"/>
          </a:solidFill>
          <a:ln w="635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154680"/>
            <a:ext cx="4069080" cy="43891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20954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2688" y="32461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des couleurs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" y="3666744"/>
            <a:ext cx="3858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 marine #0B1337 sur fond blanc #FFFFFF → ratio de contraste 17,1:1 (WCAG AAA). Bleu moyen #185FA5 sur blanc → 7,2:1 (WCAG AA). Seuil minimum requis : 4,5:1.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" y="4572000"/>
            <a:ext cx="3858768" cy="256032"/>
          </a:xfrm>
          <a:prstGeom prst="rect">
            <a:avLst/>
          </a:prstGeom>
          <a:solidFill>
            <a:srgbClr val="E8F4FD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45902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Tous les ratios &gt; 4,5:1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17720" y="1280160"/>
            <a:ext cx="4069080" cy="1737360"/>
          </a:xfrm>
          <a:prstGeom prst="rect">
            <a:avLst/>
          </a:prstGeom>
          <a:solidFill>
            <a:srgbClr val="EEF4FB"/>
          </a:solidFill>
          <a:ln w="635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1280160"/>
            <a:ext cx="4069080" cy="43891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90872" y="13350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84648" y="13716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Étiquettes de données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27448" y="1792224"/>
            <a:ext cx="3858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Étiquettes activées sur les graphiques principaux (line chart, barplot, KPIs). L'information est lisible sans survol — indispensable pour les utilisateurs navigant au clavier.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27448" y="2697480"/>
            <a:ext cx="3858768" cy="256032"/>
          </a:xfrm>
          <a:prstGeom prst="rect">
            <a:avLst/>
          </a:prstGeom>
          <a:solidFill>
            <a:srgbClr val="E8F4FD"/>
          </a:solidFill>
          <a:ln w="6350">
            <a:solidFill>
              <a:srgbClr val="378A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82312" y="271576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Visibles sans interaction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17720" y="3154680"/>
            <a:ext cx="4069080" cy="1737360"/>
          </a:xfrm>
          <a:prstGeom prst="rect">
            <a:avLst/>
          </a:prstGeom>
          <a:solidFill>
            <a:srgbClr val="EEF4FB"/>
          </a:solidFill>
          <a:ln w="635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17720" y="3154680"/>
            <a:ext cx="4069080" cy="438912"/>
          </a:xfrm>
          <a:prstGeom prst="rect">
            <a:avLst/>
          </a:prstGeom>
          <a:solidFill>
            <a:srgbClr val="085041"/>
          </a:solidFill>
          <a:ln w="12700">
            <a:solidFill>
              <a:srgbClr val="0850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90872" y="320954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184648" y="32461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de tabulation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27448" y="3666744"/>
            <a:ext cx="3858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L'ordre de tabulation est défini manuellement dans Power BI Desktop (Format → Ordre des onglets) : de haut en bas, gauche à droite. Les slicers sont accessibles en priorité.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27448" y="4572000"/>
            <a:ext cx="3858768" cy="256032"/>
          </a:xfrm>
          <a:prstGeom prst="rect">
            <a:avLst/>
          </a:prstGeom>
          <a:solidFill>
            <a:srgbClr val="E8F4FD"/>
          </a:solidFill>
          <a:ln w="6350">
            <a:solidFill>
              <a:srgbClr val="08504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82312" y="45902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Navigation clavier logique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1337"/>
          </a:solidFill>
          <a:ln w="12700">
            <a:solidFill>
              <a:srgbClr val="0B13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7315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DWFA · Projet Data Analyst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EF4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92624"/>
            <a:ext cx="7315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OMS/UNICEF JMP · Banque mondiale (WGI) · Données 2000-2018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0" y="4992624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411480"/>
            <a:ext cx="54864" cy="2926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40233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· VUE 1/3 — MONDIALE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777240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Aperçu mondial : où en est l'accès à l'eau ?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080760" y="1261872"/>
            <a:ext cx="2743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33502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88,98 %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53912" y="1737360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basique mondial 2017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80760" y="2176272"/>
            <a:ext cx="2743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224942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26,06 %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53912" y="2651760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Safely managed mondial 2017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80760" y="3090672"/>
            <a:ext cx="2743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72200" y="316382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+13,35 pts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153912" y="3566160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accès 2000→2017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080760" y="4005072"/>
            <a:ext cx="2743200" cy="548640"/>
          </a:xfrm>
          <a:prstGeom prst="rect">
            <a:avLst/>
          </a:prstGeom>
          <a:solidFill>
            <a:srgbClr val="EEF4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40416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B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basique / safely managed : </a:t>
            </a:r>
            <a:r>
              <a:rPr lang="en-US" sz="95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62,92 points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4626864"/>
            <a:ext cx="1792224" cy="301752"/>
          </a:xfrm>
          <a:prstGeom prst="rect">
            <a:avLst/>
          </a:prstGeom>
          <a:solidFill>
            <a:srgbClr val="F0F6FC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645152"/>
            <a:ext cx="1783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75,6 % en 2000 → 89 % en 2017. Progression réelle, mais la qualité de l'eau reste le défi.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2240280" y="4626864"/>
            <a:ext cx="1792224" cy="301752"/>
          </a:xfrm>
          <a:prstGeom prst="rect">
            <a:avLst/>
          </a:prstGeom>
          <a:solidFill>
            <a:srgbClr val="F0F6FC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49424" y="4645152"/>
            <a:ext cx="1773936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26 % de safely managed seulement : presque 3 personnes sur 4 n'ont pas d'eau réellement sûre.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4114800" y="4626864"/>
            <a:ext cx="1792224" cy="301752"/>
          </a:xfrm>
          <a:prstGeom prst="rect">
            <a:avLst/>
          </a:prstGeom>
          <a:solidFill>
            <a:srgbClr val="F0F6FC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0" y="4645152"/>
            <a:ext cx="160934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Afrique : 62 % basique, 7 % safely managed — le continent le plus en retard des 6 régions OMS.</a:t>
            </a:r>
            <a:endParaRPr lang="en-US" sz="6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599DDE9-B0A3-64AB-F985-193FFC421FB7}"/>
              </a:ext>
            </a:extLst>
          </p:cNvPr>
          <p:cNvSpPr/>
          <p:nvPr/>
        </p:nvSpPr>
        <p:spPr>
          <a:xfrm>
            <a:off x="365760" y="1261872"/>
            <a:ext cx="5577840" cy="329184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B5D4F4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1337"/>
          </a:solidFill>
          <a:ln w="12700">
            <a:solidFill>
              <a:srgbClr val="0B13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7315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DWFA · Projet Data Analyst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EF4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92624"/>
            <a:ext cx="7315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OMS/UNICEF JMP · Banque mondiale (WGI) · Données 2000-2018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0" y="4992624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411480"/>
            <a:ext cx="54864" cy="2926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40233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· VUE 2/3 — CONTINENTALE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777240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par région : zoom sur l'Afrique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080760" y="1261872"/>
            <a:ext cx="2743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33502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53912" y="1737360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basique Afrique 2017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80760" y="2176272"/>
            <a:ext cx="2743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224942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53912" y="2651760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Safely managed Afrique 2017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80760" y="3090672"/>
            <a:ext cx="2743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72200" y="316382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pays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153912" y="3566160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F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stabilité politique &lt; -1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080760" y="4005072"/>
            <a:ext cx="2743200" cy="548640"/>
          </a:xfrm>
          <a:prstGeom prst="rect">
            <a:avLst/>
          </a:prstGeom>
          <a:solidFill>
            <a:srgbClr val="EEF4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40416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Région met à jour les 4 visuels et les KPIs simultanément.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4626864"/>
            <a:ext cx="1792224" cy="301752"/>
          </a:xfrm>
          <a:prstGeom prst="rect">
            <a:avLst/>
          </a:prstGeom>
          <a:solidFill>
            <a:srgbClr val="F0F6FC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645152"/>
            <a:ext cx="160934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Barplot</a:t>
            </a: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Tchad 38,7 %, Soudan du Sud 40,7 %, Éthiopie 41,1 % — les plus faibles d'Afrique.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2240280" y="4626864"/>
            <a:ext cx="1792224" cy="301752"/>
          </a:xfrm>
          <a:prstGeom prst="rect">
            <a:avLst/>
          </a:prstGeom>
          <a:solidFill>
            <a:srgbClr val="F0F6FC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31720" y="4645152"/>
            <a:ext cx="160934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multi-séries : l'Afrique progresse mais reste 20+ pts sous la moyenne mondiale.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4114800" y="4626864"/>
            <a:ext cx="1792224" cy="301752"/>
          </a:xfrm>
          <a:prstGeom prst="rect">
            <a:avLst/>
          </a:prstGeom>
          <a:solidFill>
            <a:srgbClr val="F0F6FC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0" y="4645152"/>
            <a:ext cx="160934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D3 : Sierra Leone (mortalité 81/100k, stabilité -0,04) — candidat prioritaire consulting.</a:t>
            </a:r>
            <a:endParaRPr lang="en-US" sz="6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F8ECAFCC-0DD3-4860-2E56-5DF406F7774B}"/>
              </a:ext>
            </a:extLst>
          </p:cNvPr>
          <p:cNvSpPr/>
          <p:nvPr/>
        </p:nvSpPr>
        <p:spPr>
          <a:xfrm>
            <a:off x="329184" y="1261872"/>
            <a:ext cx="5577840" cy="329184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B5D4F4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1337"/>
          </a:solidFill>
          <a:ln w="12700">
            <a:solidFill>
              <a:srgbClr val="0B13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7315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DWFA · Projet Data Analyst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EF4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92624"/>
            <a:ext cx="7315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OMS/UNICEF JMP · Banque mondiale (WGI) · Données 2000-2018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0" y="4992624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411480"/>
            <a:ext cx="54864" cy="2926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40233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· VUE 3/3 — NATIONALE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777240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par pays : où DWFA peut-elle agir ?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0" y="1261872"/>
            <a:ext cx="3291840" cy="1051560"/>
          </a:xfrm>
          <a:prstGeom prst="rect">
            <a:avLst/>
          </a:prstGeom>
          <a:solidFill>
            <a:srgbClr val="0B1337"/>
          </a:solidFill>
          <a:ln w="12700">
            <a:solidFill>
              <a:srgbClr val="0B133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532120" y="1353312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44768" y="131673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services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44768" y="162763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eau (X) × Taux urbain (Y)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: Tchad 38,7 % + pop. rurale 77 %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0" y="2404872"/>
            <a:ext cx="3291840" cy="105156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32120" y="2496312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44768" y="245973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44768" y="277063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Basique (X) × Safely managed (Y)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: Laos 82 % vs 16 % safely managed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0" y="3547872"/>
            <a:ext cx="3291840" cy="105156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32120" y="3639312"/>
            <a:ext cx="530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144768" y="360273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144768" y="391363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Stabilité (X) × Mortalité (Y)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: Sierra Leone -0,04 stab., 81/100k mort.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4626864"/>
            <a:ext cx="1792224" cy="301752"/>
          </a:xfrm>
          <a:prstGeom prst="rect">
            <a:avLst/>
          </a:prstGeom>
          <a:solidFill>
            <a:srgbClr val="F0F6FC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645152"/>
            <a:ext cx="160934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dimensions encodées : X · Y · couleur région · taille population.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240280" y="4626864"/>
            <a:ext cx="1792224" cy="301752"/>
          </a:xfrm>
          <a:prstGeom prst="rect">
            <a:avLst/>
          </a:prstGeom>
          <a:solidFill>
            <a:srgbClr val="F0F6FC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31720" y="4645152"/>
            <a:ext cx="160934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pays → pays en surbrillance dans les 3 scatter + le line plot simultanément.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4114800" y="4626864"/>
            <a:ext cx="1792224" cy="301752"/>
          </a:xfrm>
          <a:prstGeom prst="rect">
            <a:avLst/>
          </a:prstGeom>
          <a:solidFill>
            <a:srgbClr val="F0F6FC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0" y="4645152"/>
            <a:ext cx="160934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plot pop. rurale/totale : pression démographique sur les infrastructures d'eau.</a:t>
            </a:r>
            <a:endParaRPr lang="en-US" sz="6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772A7B7F-AA58-37BB-629C-2378D6F9DDBB}"/>
              </a:ext>
            </a:extLst>
          </p:cNvPr>
          <p:cNvSpPr/>
          <p:nvPr/>
        </p:nvSpPr>
        <p:spPr>
          <a:xfrm>
            <a:off x="365760" y="1261872"/>
            <a:ext cx="4983480" cy="329184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rgbClr val="B5D4F4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EF4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992624"/>
            <a:ext cx="7315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OMS/UNICEF JMP · Banque mondiale (WGI) · Données 2000-2018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229600" y="4992624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stratégiques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8046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actionnables issus des 3 vues — pour orienter l'investissement des nouveaux financements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188720"/>
            <a:ext cx="8046720" cy="1115568"/>
          </a:xfrm>
          <a:prstGeom prst="rect">
            <a:avLst/>
          </a:prstGeom>
          <a:solidFill>
            <a:srgbClr val="0B1337"/>
          </a:solidFill>
          <a:ln w="6350">
            <a:solidFill>
              <a:srgbClr val="378A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188720"/>
            <a:ext cx="1417320" cy="1115568"/>
          </a:xfrm>
          <a:prstGeom prst="rect">
            <a:avLst/>
          </a:prstGeom>
          <a:solidFill>
            <a:srgbClr val="16183A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444752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1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76272" y="1243584"/>
            <a:ext cx="6364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: Afrique subsaharienne rurale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76272" y="1572768"/>
            <a:ext cx="6364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Tchad (38,7 %), Soudan du Sud (40,7 %), Éthiopie (41,1 %) : accès basique &lt; 42 %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76272" y="1819656"/>
            <a:ext cx="6364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rurale &gt; 55 % → solutions décentralisées, pas de réseaux centralisés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76272" y="2066544"/>
            <a:ext cx="6364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défi : faible densité + distances → coût par habitant desservi élevé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2423160"/>
            <a:ext cx="8046720" cy="1115568"/>
          </a:xfrm>
          <a:prstGeom prst="rect">
            <a:avLst/>
          </a:prstGeom>
          <a:solidFill>
            <a:srgbClr val="185FA5"/>
          </a:solidFill>
          <a:ln w="6350">
            <a:solidFill>
              <a:srgbClr val="85B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423160"/>
            <a:ext cx="1417320" cy="1115568"/>
          </a:xfrm>
          <a:prstGeom prst="rect">
            <a:avLst/>
          </a:prstGeom>
          <a:solidFill>
            <a:srgbClr val="16183A"/>
          </a:solidFill>
          <a:ln w="12700">
            <a:solidFill>
              <a:srgbClr val="85B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679192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2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Modernisation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76272" y="2478024"/>
            <a:ext cx="6364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: Asie du Sud et du Sud-Est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76272" y="2807208"/>
            <a:ext cx="6364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Laos : 82 % basique mais 16 % safely managed seulement — écart de 66 points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176272" y="3054096"/>
            <a:ext cx="6364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Népal : 89 % basique, 27 % safely managed — infrastructure à améliorer qualitativement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76272" y="3300984"/>
            <a:ext cx="6364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existante → retour sur investissement rapide vs création from scratch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" y="3657600"/>
            <a:ext cx="8046720" cy="1115568"/>
          </a:xfrm>
          <a:prstGeom prst="rect">
            <a:avLst/>
          </a:prstGeom>
          <a:solidFill>
            <a:srgbClr val="378ADD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657600"/>
            <a:ext cx="1417320" cy="1115568"/>
          </a:xfrm>
          <a:prstGeom prst="rect">
            <a:avLst/>
          </a:prstGeom>
          <a:solidFill>
            <a:srgbClr val="16183A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3913632"/>
            <a:ext cx="12618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3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76272" y="3712464"/>
            <a:ext cx="6364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: pays stables à forte mortalité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176272" y="4041648"/>
            <a:ext cx="6364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Sierra Leone : stabilité -0,04, mortalité 81/100k — interlocuteur institutionnel accessible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176272" y="4288536"/>
            <a:ext cx="6364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Bénin : stabilité 0,0, mortalité 60/100k — politique de l'eau à structurer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176272" y="4535424"/>
            <a:ext cx="6364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950" dirty="0">
                <a:solidFill>
                  <a:srgbClr val="D8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Comores : stabilité +0,04, mortalité 51/100k — contexte propice au consulting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B1337"/>
          </a:solidFill>
          <a:ln w="12700">
            <a:solidFill>
              <a:srgbClr val="0B13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0" y="7315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DWFA · Projet Data Analyst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EF4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992624"/>
            <a:ext cx="7315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OMS/UNICEF JMP · Banque mondiale (WGI) · Données 2000-2018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229600" y="4992624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65760" y="411480"/>
            <a:ext cx="54864" cy="2926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40233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&amp; PERSPECTIVES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777240"/>
            <a:ext cx="8412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13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actuelles &amp; pistes d'amélioration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65760" y="1280160"/>
            <a:ext cx="4160520" cy="320040"/>
          </a:xfrm>
          <a:prstGeom prst="rect">
            <a:avLst/>
          </a:prstGeom>
          <a:solidFill>
            <a:srgbClr val="FEE2E2"/>
          </a:solidFill>
          <a:ln w="6350">
            <a:solidFill>
              <a:srgbClr val="F0959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28930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err="1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r>
              <a:rPr lang="en-US" sz="11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identifiées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691640"/>
            <a:ext cx="4160520" cy="658368"/>
          </a:xfrm>
          <a:prstGeom prst="rect">
            <a:avLst/>
          </a:prstGeom>
          <a:solidFill>
            <a:srgbClr val="FFF9F9"/>
          </a:solidFill>
          <a:ln w="6350">
            <a:solidFill>
              <a:srgbClr val="F7C1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73736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arrêtées à 2016-2017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197510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L'accès à l'eau s'arrête à 2017, la mortalité à 2016. Les évolutions récentes ne sont pas reflétées. À croiser avec des données terrain.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423160"/>
            <a:ext cx="4160520" cy="658368"/>
          </a:xfrm>
          <a:prstGeom prst="rect">
            <a:avLst/>
          </a:prstGeom>
          <a:solidFill>
            <a:srgbClr val="FFF9F9"/>
          </a:solidFill>
          <a:ln w="6350">
            <a:solidFill>
              <a:srgbClr val="F7C1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6888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Inégalités intra-pays masquées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70662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indicateurs sont nationaux. Un pays à 80 % peut avoir des zones rurales à 20 %. Le dashboard oriente, il ne remplace pas une analyse locale.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154680"/>
            <a:ext cx="4160520" cy="658368"/>
          </a:xfrm>
          <a:prstGeom prst="rect">
            <a:avLst/>
          </a:prstGeom>
          <a:solidFill>
            <a:srgbClr val="FFF9F9"/>
          </a:solidFill>
          <a:ln w="6350">
            <a:solidFill>
              <a:srgbClr val="F7C1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0040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Mortalité : année unique (2016)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43814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millésime pour la mortalité — impossible d'analyser l'évolution temporelle de cet indicateur clé.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886200"/>
            <a:ext cx="4160520" cy="658368"/>
          </a:xfrm>
          <a:prstGeom prst="rect">
            <a:avLst/>
          </a:prstGeom>
          <a:solidFill>
            <a:srgbClr val="FFF9F9"/>
          </a:solidFill>
          <a:ln w="6350">
            <a:solidFill>
              <a:srgbClr val="F7C1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3192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100" b="1" dirty="0">
                <a:solidFill>
                  <a:srgbClr val="C00000"/>
                </a:solidFill>
              </a:rPr>
              <a:t>Données </a:t>
            </a:r>
            <a:r>
              <a:rPr lang="fr-FR" sz="1100" b="1" dirty="0" err="1">
                <a:solidFill>
                  <a:srgbClr val="C00000"/>
                </a:solidFill>
              </a:rPr>
              <a:t>safely</a:t>
            </a:r>
            <a:r>
              <a:rPr lang="fr-FR" sz="1100" b="1" dirty="0">
                <a:solidFill>
                  <a:srgbClr val="C00000"/>
                </a:solidFill>
              </a:rPr>
              <a:t> </a:t>
            </a:r>
            <a:r>
              <a:rPr lang="fr-FR" sz="1100" b="1" dirty="0" err="1">
                <a:solidFill>
                  <a:srgbClr val="C00000"/>
                </a:solidFill>
              </a:rPr>
              <a:t>managed</a:t>
            </a:r>
            <a:r>
              <a:rPr lang="fr-FR" sz="1100" b="1" dirty="0">
                <a:solidFill>
                  <a:srgbClr val="C00000"/>
                </a:solidFill>
              </a:rPr>
              <a:t> très incomplètes</a:t>
            </a:r>
            <a:endParaRPr lang="en-US" sz="1100" b="1" dirty="0">
              <a:solidFill>
                <a:srgbClr val="C0000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02920" y="416966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fr-FR" sz="800" dirty="0"/>
              <a:t>Tchad, Soudan du Sud, Bénin : pas de données </a:t>
            </a:r>
            <a:r>
              <a:rPr lang="fr-FR" sz="800" dirty="0" err="1"/>
              <a:t>safely</a:t>
            </a:r>
            <a:r>
              <a:rPr lang="fr-FR" sz="800" dirty="0"/>
              <a:t> </a:t>
            </a:r>
            <a:r>
              <a:rPr lang="fr-FR" sz="800" dirty="0" err="1"/>
              <a:t>managed</a:t>
            </a:r>
            <a:r>
              <a:rPr lang="fr-FR" sz="800" dirty="0"/>
              <a:t>. La moyenne mondiale de 26 % est calculée sur un sous-ensemble de pays, probablement en faveur des mieux dotés.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09160" y="1280160"/>
            <a:ext cx="4069080" cy="320040"/>
          </a:xfrm>
          <a:prstGeom prst="rect">
            <a:avLst/>
          </a:prstGeom>
          <a:solidFill>
            <a:srgbClr val="D1FAE5"/>
          </a:solidFill>
          <a:ln w="6350">
            <a:solidFill>
              <a:srgbClr val="5DCA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28930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d'amélioration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1691640"/>
            <a:ext cx="4069080" cy="658368"/>
          </a:xfrm>
          <a:prstGeom prst="rect">
            <a:avLst/>
          </a:prstGeom>
          <a:solidFill>
            <a:srgbClr val="F0FDF8"/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73736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JMP mises à jour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197510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les millésimes 2018-2023 dès leur publication pour maintenir la pertinence opérationnelle du dashboard.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2423160"/>
            <a:ext cx="4069080" cy="658368"/>
          </a:xfrm>
          <a:prstGeom prst="rect">
            <a:avLst/>
          </a:prstGeom>
          <a:solidFill>
            <a:srgbClr val="F0FDF8"/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46888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composite DWFA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270662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score unique combinant accès basique, safely managed, mortalité et stabilité — pour classer les pays directement.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9160" y="3154680"/>
            <a:ext cx="4069080" cy="658368"/>
          </a:xfrm>
          <a:prstGeom prst="rect">
            <a:avLst/>
          </a:prstGeom>
          <a:solidFill>
            <a:srgbClr val="F0FDF8"/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20040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tendancielle à 2030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343814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une régression linéaire DAX pour projeter le taux d'accès à l'horizon des ODD (Objectif de Développement Durable 6).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3886200"/>
            <a:ext cx="4069080" cy="658368"/>
          </a:xfrm>
          <a:prstGeom prst="rect">
            <a:avLst/>
          </a:prstGeom>
          <a:solidFill>
            <a:srgbClr val="F0FDF8"/>
          </a:solidFill>
          <a:ln w="6350">
            <a:solidFill>
              <a:srgbClr val="9FE1C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9319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100" b="1" dirty="0">
                <a:solidFill>
                  <a:srgbClr val="267D67"/>
                </a:solidFill>
              </a:rPr>
              <a:t>Enrichir les données </a:t>
            </a:r>
            <a:r>
              <a:rPr lang="fr-FR" sz="1100" b="1" dirty="0" err="1">
                <a:solidFill>
                  <a:srgbClr val="267D67"/>
                </a:solidFill>
              </a:rPr>
              <a:t>safely</a:t>
            </a:r>
            <a:r>
              <a:rPr lang="fr-FR" sz="1100" b="1" dirty="0">
                <a:solidFill>
                  <a:srgbClr val="267D67"/>
                </a:solidFill>
              </a:rPr>
              <a:t> </a:t>
            </a:r>
            <a:r>
              <a:rPr lang="fr-FR" sz="1100" b="1" dirty="0" err="1">
                <a:solidFill>
                  <a:srgbClr val="267D67"/>
                </a:solidFill>
              </a:rPr>
              <a:t>managed</a:t>
            </a:r>
            <a:endParaRPr lang="en-US" sz="1100" b="1" dirty="0">
              <a:solidFill>
                <a:srgbClr val="267D67"/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4846320" y="416966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fr-FR" sz="1000" dirty="0"/>
              <a:t>Intégrer les estimations JMP par modélisation statistique pour les pays sans données, afin de réduire le biais de sélection sur cet indicateur clé.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0292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2120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DWFA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08760" y="886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Drinking Water For All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2148840"/>
            <a:ext cx="8686800" cy="2743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32588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40080" y="230428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échanges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2834640"/>
            <a:ext cx="1965960" cy="822960"/>
          </a:xfrm>
          <a:prstGeom prst="rect">
            <a:avLst/>
          </a:prstGeom>
          <a:solidFill>
            <a:srgbClr val="0C2060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28803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13232" y="3282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 interactives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743200" y="2834640"/>
            <a:ext cx="1965960" cy="822960"/>
          </a:xfrm>
          <a:prstGeom prst="rect">
            <a:avLst/>
          </a:prstGeom>
          <a:solidFill>
            <a:srgbClr val="0C2060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816352" y="28803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2816352" y="3282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analysés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46320" y="2834640"/>
            <a:ext cx="1965960" cy="822960"/>
          </a:xfrm>
          <a:prstGeom prst="rect">
            <a:avLst/>
          </a:prstGeom>
          <a:solidFill>
            <a:srgbClr val="0C2060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19472" y="28803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4919472" y="3282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synchronisés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949440" y="2834640"/>
            <a:ext cx="1965960" cy="822960"/>
          </a:xfrm>
          <a:prstGeom prst="rect">
            <a:avLst/>
          </a:prstGeom>
          <a:solidFill>
            <a:srgbClr val="0C2060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22592" y="288036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B5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2000-2018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7022592" y="3282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A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couverte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0080" y="385876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: OMS/UNICEF JMP · Banque mondiale · Indicateurs de gouvernance mondiaux (WGI) · 2000-2018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40080" y="4224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Rémy D’AURA · Formation Data Analyst · OpenClassrooms ·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869</TotalTime>
  <Words>1929</Words>
  <Application>Microsoft Office PowerPoint</Application>
  <PresentationFormat>Affichage à l'écran (16:9)</PresentationFormat>
  <Paragraphs>302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Tableau de bord DWFA</dc:title>
  <dc:subject>PptxGenJS Presentation</dc:subject>
  <dc:creator>PptxGenJS</dc:creator>
  <cp:lastModifiedBy>remy daura</cp:lastModifiedBy>
  <cp:revision>6</cp:revision>
  <dcterms:created xsi:type="dcterms:W3CDTF">2026-05-04T11:03:51Z</dcterms:created>
  <dcterms:modified xsi:type="dcterms:W3CDTF">2026-05-14T13:58:46Z</dcterms:modified>
</cp:coreProperties>
</file>